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video/unknown"/>
  <Override PartName="/ppt/media/media10.mp3" ContentType="video/unknown"/>
  <Override PartName="/ppt/media/media11.mp3" ContentType="video/unknown"/>
  <Override PartName="/ppt/media/media12.mp3" ContentType="video/unknown"/>
  <Override PartName="/ppt/media/media13.mp3" ContentType="video/unknown"/>
  <Override PartName="/ppt/media/media14.mp3" ContentType="video/unknown"/>
  <Override PartName="/ppt/media/media15.mp3" ContentType="video/unknown"/>
  <Override PartName="/ppt/media/media16.mp3" ContentType="video/unknown"/>
  <Override PartName="/ppt/media/media17.mp3" ContentType="video/unknown"/>
  <Override PartName="/ppt/media/media18.mp3" ContentType="video/unknown"/>
  <Override PartName="/ppt/media/media2.mp3" ContentType="video/unknown"/>
  <Override PartName="/ppt/media/media3.mp3" ContentType="video/unknown"/>
  <Override PartName="/ppt/media/media4.mp3" ContentType="video/unknown"/>
  <Override PartName="/ppt/media/media5.mp3" ContentType="video/unknown"/>
  <Override PartName="/ppt/media/media6.mp3" ContentType="video/unknown"/>
  <Override PartName="/ppt/media/media7.mp3" ContentType="video/unknown"/>
  <Override PartName="/ppt/media/media8.mp3" ContentType="video/unknown"/>
  <Override PartName="/ppt/media/media9.mp3" ContentType="video/unknown"/>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structural foundation of Moodle application development. The Page API manages the comprehensive state of your rendering request. By explicitly calling the global PAGE object, setting its security context boundary, and mutating heading and class properties, we build a predictable canvas for our custom layouts and themes to sit on top of.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Bullet Points:</a:t>
            </a:r>
          </a:p>
          <a:p>
            <a:r>
              <a:t>    • DATABASE LAYER: Abstracted communication engine used to process safe records interaction.</a:t>
            </a:r>
          </a:p>
          <a:p>
            <a:r>
              <a:t>    • LATENCY RISK: Trainees frequently extract large record arrays into memory simply to calculate counts.</a:t>
            </a:r>
          </a:p>
          <a:p>
            <a:r>
              <a:t>    • OPTIMIZED AGGREGATE SQL: $sql = "SELECT COUNT(id) FROM {user_enrolments} WHERE userid = :userid";</a:t>
            </a:r>
          </a:p>
          <a:p>
            <a:r>
              <a:t>    • LOW-OVERHEAD FIELD FETCH: $enrollment_count = $DB-&gt;get_field_sql($sql, ['userid' =&gt; $USER-&gt;id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preparation is the core differentiator of high-performance analytics engines. By swapping multi-row structures for menu-driven associative reads, filtering empty null entries, and rounding decimal limits inside the query execution phase, your background engine feeds presentation charts clean, lightweight payloads without generating code execution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Bullet Points:</a:t>
            </a:r>
          </a:p>
          <a:p>
            <a:r>
              <a:t>    • DEFENSIVE PATTERNS: Isolate structural execution points to intercept fatal application halts.</a:t>
            </a:r>
          </a:p>
          <a:p>
            <a:r>
              <a:t>    • VALIDATION BOUNDARY: Use the MUST_EXIST constraint flag within query lookups.</a:t>
            </a:r>
          </a:p>
          <a:p>
            <a:r>
              <a:t>    • TRY-CATCH INTERCEPTION: try { $record = $DB-&gt;get_record('quiz', ['id' =&gt; $quizid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True learning analytics require robust multi-table execution patterns. By joining system course tracking maps cleanly against internal calculation grades, we compile targeted, performant profiles that power the low-performance reporting charts inside the plugin 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persistent object APIs are the standard operational rule, but enterprise-scale automated systems demand robust fallback logic. By using raw insertion operations when cache limits or transaction validation sequences lock up, we establish resilient configuration points that secure long-term platform capability.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Moodle Form API architectures. Server-side validation is your application's primary defense layer. By overriding the native validation method within your custom form class, you intercept incoming data payloads, evaluate business logic constraints natively, and safely map error alerts straight back to user viewports without risking database corruption.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experience at scale demands clean, dynamic element handling. Using Moodle's built-in structural repeater elements within your form definition layer allows your application to handle multi-row variable inputs gracefully, processing all serialized array indices automatically during data extraction transitions.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Event-driven automation keeps your custom plugins synchronized with core system states. By configuring strict callback configurations inside your database event map file, you establish precise operational listening posts that catch user behavior hooks instantly without mutating core codebase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scale is completely unachievable without efficient caching strategies. Moodle’s Universal Cache provides an abstraction layer that sits directly over memory storage instances like Redis. By implementing rigorous 'get-or-compute' retrieval logic, your custom application code serves complex analytics profiles in milliseconds, protecting database servers from repetitive operational loads.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Moodle Output API. Think of your business logic as an engine, and the Output API as the car body built around it. We never want to mix raw SQL processing or validation logic with direct HTML layout strings. By routing all visual elements through core renderer objects, we establish strict architectural isolation, making our plugin code modular, clean, and completely open to downstream modifications.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Theme API gives you absolute visual authority over your application ecosystem without editing core files. By understanding renderer overrides, you can intercept the HTML produced by any plugin on your system and rewrite its layout structure directly within your theme layer. It is the ultimate facade swap—allowing the base system to function identically while providing a customized, responsive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Mustache templates are the pre-fabricated structures of modern Moodle development. By stripping all PHP logic away from your layout templates, you empower frontend designers to safely modify look and feel without risking application crashes. Your PHP code simply gathers the data cargo, bundles it up, and drops it into the template mold to be cast instantly.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Standardizing how data travels to the presentation layer is critical for scaling large applications. Implement the renderable interface on your data objects to convert them into secure shipping containers. The theme engine doesn't need to guess the structure of your data payload—it relies on standard, type-hinted export methods to cleanly extract exactly what it needs for rendering.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to the presentation track. Hardcoding visual assets is an absolute anti-pattern in scalable systems. Moodle’s Pix engine acts as a dynamic art curator. By registering asset calls through the core output image engine instead of raw files paths, the system automatically checks if the active theme provides a custom variation of that graphic, swapping it seamlessly to fit the user's design scheme.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viewport changes everything about layout delivery. Moodle's theme architecture features built-in device detection tunnels. By setting explicit layout configurations based on the inbound device state, your theme can switch templates entirely under the hood—ensuring tablet, mobile, and desktop users see layouts custom-tailored to their specific screen real estate.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block is currently flagged as a deployment sandbox draft asset. The compiler will completely ignore this slide text string during bulk processing operations until its deployment tag is flipped to active status.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content remains hidden from production builds. It represents architectural research items that sit quietly inside the question bank database repository without taking up structural space on the compiled presentation slide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microsoft.com/office/2007/relationships/media" Target="../media/media1.mp3"/><Relationship Id="rId4" Type="http://schemas.openxmlformats.org/officeDocument/2006/relationships/video" Target="../media/media1.mp3"/><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microsoft.com/office/2007/relationships/media" Target="../media/media2.mp3"/><Relationship Id="rId4" Type="http://schemas.openxmlformats.org/officeDocument/2006/relationships/video" Target="../media/media2.mp3"/><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microsoft.com/office/2007/relationships/media" Target="../media/media3.mp3"/><Relationship Id="rId4" Type="http://schemas.openxmlformats.org/officeDocument/2006/relationships/video" Target="../media/media3.mp3"/><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microsoft.com/office/2007/relationships/media" Target="../media/media4.mp3"/><Relationship Id="rId4" Type="http://schemas.openxmlformats.org/officeDocument/2006/relationships/video" Target="../media/media4.mp3"/><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microsoft.com/office/2007/relationships/media" Target="../media/media5.mp3"/><Relationship Id="rId4" Type="http://schemas.openxmlformats.org/officeDocument/2006/relationships/video" Target="../media/media5.mp3"/><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microsoft.com/office/2007/relationships/media" Target="../media/media6.mp3"/><Relationship Id="rId4" Type="http://schemas.openxmlformats.org/officeDocument/2006/relationships/video" Target="../media/media6.mp3"/><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microsoft.com/office/2007/relationships/media" Target="../media/media7.mp3"/><Relationship Id="rId4" Type="http://schemas.openxmlformats.org/officeDocument/2006/relationships/video" Target="../media/media7.mp3"/><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microsoft.com/office/2007/relationships/media" Target="../media/media8.mp3"/><Relationship Id="rId4" Type="http://schemas.openxmlformats.org/officeDocument/2006/relationships/video" Target="../media/media8.mp3"/><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microsoft.com/office/2007/relationships/media" Target="../media/media9.mp3"/><Relationship Id="rId4" Type="http://schemas.openxmlformats.org/officeDocument/2006/relationships/video" Target="../media/media9.mp3"/><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microsoft.com/office/2007/relationships/media" Target="../media/media10.mp3"/><Relationship Id="rId4" Type="http://schemas.openxmlformats.org/officeDocument/2006/relationships/video" Target="../media/media10.mp3"/><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microsoft.com/office/2007/relationships/media" Target="../media/media11.mp3"/><Relationship Id="rId4" Type="http://schemas.openxmlformats.org/officeDocument/2006/relationships/video" Target="../media/media11.mp3"/><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microsoft.com/office/2007/relationships/media" Target="../media/media12.mp3"/><Relationship Id="rId4" Type="http://schemas.openxmlformats.org/officeDocument/2006/relationships/video" Target="../media/media12.mp3"/><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microsoft.com/office/2007/relationships/media" Target="../media/media13.mp3"/><Relationship Id="rId4" Type="http://schemas.openxmlformats.org/officeDocument/2006/relationships/video" Target="../media/media13.mp3"/><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microsoft.com/office/2007/relationships/media" Target="../media/media14.mp3"/><Relationship Id="rId4" Type="http://schemas.openxmlformats.org/officeDocument/2006/relationships/video" Target="../media/media14.mp3"/><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microsoft.com/office/2007/relationships/media" Target="../media/media15.mp3"/><Relationship Id="rId4" Type="http://schemas.openxmlformats.org/officeDocument/2006/relationships/video" Target="../media/media15.mp3"/><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microsoft.com/office/2007/relationships/media" Target="../media/media16.mp3"/><Relationship Id="rId4" Type="http://schemas.openxmlformats.org/officeDocument/2006/relationships/video" Target="../media/media16.mp3"/><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microsoft.com/office/2007/relationships/media" Target="../media/media17.mp3"/><Relationship Id="rId4" Type="http://schemas.openxmlformats.org/officeDocument/2006/relationships/video" Target="../media/media17.mp3"/><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microsoft.com/office/2007/relationships/media" Target="../media/media18.mp3"/><Relationship Id="rId4" Type="http://schemas.openxmlformats.org/officeDocument/2006/relationships/video" Target="../media/media18.mp3"/><Relationship Id="rId5"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Debonair AI: Moodle API Series</a:t>
            </a:r>
          </a:p>
        </p:txBody>
      </p:sp>
      <p:sp>
        <p:nvSpPr>
          <p:cNvPr id="3" name="Subtitle 2"/>
          <p:cNvSpPr>
            <a:spLocks noGrp="1"/>
          </p:cNvSpPr>
          <p:nvPr>
            <p:ph type="subTitle" idx="1"/>
          </p:nvPr>
        </p:nvSpPr>
        <p:spPr/>
        <p:txBody>
          <a:bodyPr/>
          <a:lstStyle/>
          <a:p>
            <a:r>
              <a:t>Automated Generation: 18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PAGE API State Architecture</a:t>
            </a:r>
          </a:p>
        </p:txBody>
      </p:sp>
      <p:sp>
        <p:nvSpPr>
          <p:cNvPr id="3" name="Content Placeholder 2"/>
          <p:cNvSpPr>
            <a:spLocks noGrp="1"/>
          </p:cNvSpPr>
          <p:nvPr>
            <p:ph idx="1"/>
          </p:nvPr>
        </p:nvSpPr>
        <p:spPr/>
        <p:txBody>
          <a:bodyPr/>
          <a:lstStyle/>
          <a:p>
            <a:r>
              <a:t>DEFINITION: Central manager for the active page state, handling headings, contexts, and asset hooks.</a:t>
            </a:r>
          </a:p>
          <a:p>
            <a:pPr/>
            <a:r>
              <a:t>OOP INITIALIZATION: Interacts directly with the global $PAGE object instance.</a:t>
            </a:r>
          </a:p>
          <a:p>
            <a:pPr/>
            <a:r>
              <a:t>SECURITY BOUNDARY: $PAGE-&gt;set_context(context_system::instance());</a:t>
            </a:r>
          </a:p>
          <a:p>
            <a:pPr/>
            <a:r>
              <a:t>STATE MUTATION: $PAGE-&gt;set_heading("Welcome to ThemeAPI Masterclass");</a:t>
            </a:r>
          </a:p>
          <a:p>
            <a:pPr/>
            <a:r>
              <a:t>LAYOUT OVERRIDE: $PAGE-&gt;add_body_class('themeapi-custom-view');</a:t>
            </a:r>
          </a:p>
          <a:p>
            <a:pPr/>
            <a:r>
              <a:t>TROUBLESHOOTING: Call set_context() before rendering output to ensure classes populate in body_attributes().</a:t>
            </a:r>
          </a:p>
          <a:p>
            <a:pPr/>
            <a:r>
              <a:t>ROADMAP STRATEGY: Use conditional DML parameters to append behavioral classes like status-lockdown.</a:t>
            </a:r>
          </a:p>
        </p:txBody>
      </p:sp>
      <p:pic>
        <p:nvPicPr>
          <p:cNvPr id="4" name="slide_2_01_Lesson_11_The_PAGE_API__Layout_State_Engine.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DML API - Dashboard Counter Optimization</a:t>
            </a:r>
          </a:p>
        </p:txBody>
      </p:sp>
      <p:sp>
        <p:nvSpPr>
          <p:cNvPr id="3" name="Content Placeholder 2"/>
          <p:cNvSpPr>
            <a:spLocks noGrp="1"/>
          </p:cNvSpPr>
          <p:nvPr>
            <p:ph idx="1"/>
          </p:nvPr>
        </p:nvSpPr>
        <p:spPr/>
        <p:txBody>
          <a:bodyPr/>
          <a:lstStyle/>
          <a:p>
            <a:r>
              <a:t>DATABASE LAYER: Abstracted communication engine used to process safe records interaction.</a:t>
            </a:r>
          </a:p>
          <a:p>
            <a:pPr/>
            <a:r>
              <a:t>LATENCY RISK: Trainees frequently extract large record arrays into memory simply to calculate counts.</a:t>
            </a:r>
          </a:p>
          <a:p>
            <a:pPr/>
            <a:r>
              <a:t>OPTIMIZED AGGREGATE SQL: $sql = "SELECT COUNT(id) FROM {user_enrolments} WHERE userid = :userid";</a:t>
            </a:r>
          </a:p>
          <a:p>
            <a:pPr/>
            <a:r>
              <a:t>LOW-OVERHEAD FIELD FETCH: $enrollment_count = $DB-&gt;get_field_sql($sql, ['userid' =&gt; $USER-&gt;id</a:t>
            </a:r>
          </a:p>
        </p:txBody>
      </p:sp>
      <p:pic>
        <p:nvPicPr>
          <p:cNvPr id="4" name="slide_3_02_Lesson_12_The_DML_API__SingleMetric_Optimization.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DML API - Formatted Analytical Queries</a:t>
            </a:r>
          </a:p>
        </p:txBody>
      </p:sp>
      <p:sp>
        <p:nvSpPr>
          <p:cNvPr id="3" name="Content Placeholder 2"/>
          <p:cNvSpPr>
            <a:spLocks noGrp="1"/>
          </p:cNvSpPr>
          <p:nvPr>
            <p:ph idx="1"/>
          </p:nvPr>
        </p:nvSpPr>
        <p:spPr/>
        <p:txBody>
          <a:bodyPr/>
          <a:lstStyle/>
          <a:p>
            <a:r>
              <a:t>READ-MODEL TUNING: Swap multi-row object loops for key-value array menu maps.</a:t>
            </a:r>
          </a:p>
          <a:p>
            <a:pPr/>
            <a:r>
              <a:t>ASSOCIATIVE EXTRACTION: $data = $DB-&gt;get_records_menu_sql($optimized_sql, $params);</a:t>
            </a:r>
          </a:p>
          <a:p>
            <a:pPr/>
            <a:r>
              <a:t>TRANSFORMATION: Sort metrics with arsort($data) to preserve structural keys natively.</a:t>
            </a:r>
          </a:p>
          <a:p>
            <a:pPr/>
            <a:r>
              <a:t>FOOTPRINT PACKING: Round floats to uniform limits directly using round($user_avg, 1);</a:t>
            </a:r>
          </a:p>
          <a:p>
            <a:pPr/>
            <a:r>
              <a:t>DATA INTEGRITY SANITIZATION: Force rigid exclusions using explicit statements like AND finalgrade IS NOT NULL.</a:t>
            </a:r>
          </a:p>
          <a:p>
            <a:pPr/>
            <a:r>
              <a:t>ADVANCED TANGENT: Feed json-encoded associative arrays straight to AMD frontend Chart.js components.</a:t>
            </a:r>
          </a:p>
        </p:txBody>
      </p:sp>
      <p:pic>
        <p:nvPicPr>
          <p:cNvPr id="4" name="slide_4_03_Lesson_13_The_DML_API__Analytical_Data_Restructuring.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DML Exception Management</a:t>
            </a:r>
          </a:p>
        </p:txBody>
      </p:sp>
      <p:sp>
        <p:nvSpPr>
          <p:cNvPr id="3" name="Content Placeholder 2"/>
          <p:cNvSpPr>
            <a:spLocks noGrp="1"/>
          </p:cNvSpPr>
          <p:nvPr>
            <p:ph idx="1"/>
          </p:nvPr>
        </p:nvSpPr>
        <p:spPr/>
        <p:txBody>
          <a:bodyPr/>
          <a:lstStyle/>
          <a:p>
            <a:r>
              <a:t>DEFENSIVE PATTERNS: Isolate structural execution points to intercept fatal application halts.</a:t>
            </a:r>
          </a:p>
          <a:p>
            <a:pPr/>
            <a:r>
              <a:t>VALIDATION BOUNDARY: Use the MUST_EXIST constraint flag within query lookups.</a:t>
            </a:r>
          </a:p>
          <a:p>
            <a:pPr/>
            <a:r>
              <a:t>TRY-CATCH INTERCEPTION: try { $record = $DB-&gt;get_record('quiz', ['id' =&gt; $quizid</a:t>
            </a:r>
          </a:p>
        </p:txBody>
      </p:sp>
      <p:pic>
        <p:nvPicPr>
          <p:cNvPr id="4" name="slide_5_04_Lesson_14_The_DML_API__Exception_Architectures.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Multi-Table DML Joins</a:t>
            </a:r>
          </a:p>
        </p:txBody>
      </p:sp>
      <p:sp>
        <p:nvSpPr>
          <p:cNvPr id="3" name="Content Placeholder 2"/>
          <p:cNvSpPr>
            <a:spLocks noGrp="1"/>
          </p:cNvSpPr>
          <p:nvPr>
            <p:ph idx="1"/>
          </p:nvPr>
        </p:nvSpPr>
        <p:spPr/>
        <p:txBody>
          <a:bodyPr/>
          <a:lstStyle/>
          <a:p>
            <a:r>
              <a:t>ARCHITECTURAL CROSS-OVERS: Connect data profiles across course, item, and grade tables.</a:t>
            </a:r>
          </a:p>
          <a:p>
            <a:pPr/>
            <a:r>
              <a:t>PERFORMANCE JOINS: SELECT c.id, c.fullname, ROUND(AVG(gg.finalgrade), 2) as score FROM {course} c JOIN {grade_items} gi ON gi.courseid = c.id JOIN {grade_grades} gg ON gg.itemid = gi.id WHERE gi.itemtype = 'course' AND gg.finalgrade IS NOT NULL GROUP BY c.id, c.fullname</a:t>
            </a:r>
          </a:p>
          <a:p>
            <a:pPr/>
            <a:r>
              <a:t>LIMIT CONSTRAINTS: Extract low-scoring profiles cleanly via $DB-&gt;get_records_sql($sql, null, 0, 5);</a:t>
            </a:r>
          </a:p>
          <a:p>
            <a:pPr/>
            <a:r>
              <a:t>DATA INTEGRITY: Enforce Unique Constraints (UNI) on course indices to protect multi-table computations.</a:t>
            </a:r>
          </a:p>
        </p:txBody>
      </p:sp>
      <p:pic>
        <p:nvPicPr>
          <p:cNvPr id="4" name="slide_6_05_Lesson_15_The_DML_API__MultiTable_Complex_Analytical_Joins.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Low-Level DML System Fallbacks</a:t>
            </a:r>
          </a:p>
        </p:txBody>
      </p:sp>
      <p:sp>
        <p:nvSpPr>
          <p:cNvPr id="3" name="Content Placeholder 2"/>
          <p:cNvSpPr>
            <a:spLocks noGrp="1"/>
          </p:cNvSpPr>
          <p:nvPr>
            <p:ph idx="1"/>
          </p:nvPr>
        </p:nvSpPr>
        <p:spPr/>
        <p:txBody>
          <a:bodyPr/>
          <a:lstStyle/>
          <a:p>
            <a:r>
              <a:t>OVERRIDE UTILITY: Work around high-level framework abstraction rules and active transactional cache blocks.</a:t>
            </a:r>
          </a:p>
          <a:p>
            <a:pPr/>
            <a:r>
              <a:t>DIRECT SYSTEM COMMAND: $inserted_id = $DB-&gt;insert_record('competency_framework', $framework_object);</a:t>
            </a:r>
          </a:p>
          <a:p>
            <a:pPr/>
            <a:r>
              <a:t>OPERATIONAL SAFEGUARD: Prevents memory overflow errors during extensive data initializations.</a:t>
            </a:r>
          </a:p>
          <a:p>
            <a:pPr/>
            <a:r>
              <a:t>FUTURE SCALING TANGENT: Forms the structural ingestion pathway for automated competency modeling pipelines.</a:t>
            </a:r>
          </a:p>
        </p:txBody>
      </p:sp>
      <p:pic>
        <p:nvPicPr>
          <p:cNvPr id="4" name="slide_7_06_Lesson_16_The_DML_API__Core_Validation_Bypass_Mechanisms.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 API Validation Architectures</a:t>
            </a:r>
          </a:p>
        </p:txBody>
      </p:sp>
      <p:sp>
        <p:nvSpPr>
          <p:cNvPr id="3" name="Content Placeholder 2"/>
          <p:cNvSpPr>
            <a:spLocks noGrp="1"/>
          </p:cNvSpPr>
          <p:nvPr>
            <p:ph idx="1"/>
          </p:nvPr>
        </p:nvSpPr>
        <p:spPr/>
        <p:txBody>
          <a:bodyPr/>
          <a:lstStyle/>
          <a:p>
            <a:r>
              <a:t>DEFINITION: Secure server-side validation framework handling input sanitation and business rule constraint logic.</a:t>
            </a:r>
          </a:p>
          <a:p>
            <a:pPr/>
            <a:r>
              <a:t>OOP INITIALIZATION: Inherits directly from the moodleform core class override rules.</a:t>
            </a:r>
          </a:p>
          <a:p>
            <a:pPr/>
            <a:r>
              <a:t>COMMON USAGE: Enforces custom relational dependencies between input fields before processing database insertion.</a:t>
            </a:r>
          </a:p>
          <a:p>
            <a:pPr/>
            <a:r>
              <a:t>DEMO PROBLEM: A plugin form accepts date ranges but fails to catch scenarios where start dates occur in the past.</a:t>
            </a:r>
          </a:p>
          <a:p>
            <a:pPr/>
            <a:r>
              <a:t>CODE SOLUTION: Override the base validation method to intercept input arrays and map custom error message strings back to target keys using the get_string helper.</a:t>
            </a:r>
          </a:p>
          <a:p>
            <a:pPr/>
            <a:r>
              <a:t>CORE VALIDATION, ASSIGNMENT &amp; REFERENCES: Implement an additional constraint validating that enddate occurs at least 24 hours after startdate. Reference: Form API documentation inside lib/formslib.php.</a:t>
            </a:r>
          </a:p>
        </p:txBody>
      </p:sp>
      <p:pic>
        <p:nvPicPr>
          <p:cNvPr id="4" name="slide_8_Content__END_ITEM_Found_07_Lesson_21_Form_API__Dynamic_ServerSide_Validation.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Dynamic Form Repeat Elements</a:t>
            </a:r>
          </a:p>
        </p:txBody>
      </p:sp>
      <p:sp>
        <p:nvSpPr>
          <p:cNvPr id="3" name="Content Placeholder 2"/>
          <p:cNvSpPr>
            <a:spLocks noGrp="1"/>
          </p:cNvSpPr>
          <p:nvPr>
            <p:ph idx="1"/>
          </p:nvPr>
        </p:nvSpPr>
        <p:spPr/>
        <p:txBody>
          <a:bodyPr/>
          <a:lstStyle/>
          <a:p>
            <a:r>
              <a:t>DEFINITION: Flexible interface arrays allowing users to dynamically expand input sets via JavaScript layouts.</a:t>
            </a:r>
          </a:p>
          <a:p>
            <a:pPr/>
            <a:r>
              <a:t>OOP INITIALIZATION: Utilizes the HTML_QuickForm_renderer object engine compilation layers.</a:t>
            </a:r>
          </a:p>
          <a:p>
            <a:pPr/>
            <a:r>
              <a:t>COMMON USAGE: Structuring bulk data entry models like dynamic option lists or quiz multi-choice variations.</a:t>
            </a:r>
          </a:p>
          <a:p>
            <a:pPr/>
            <a:r>
              <a:t>DEMO PROBLEM: Standard forms limit input rows, forcing users to repeatedly save and reload layout interfaces.</a:t>
            </a:r>
          </a:p>
          <a:p>
            <a:pPr/>
            <a:r>
              <a:t>CODE SOLUTION: Formulate a custom element group map array, define element type criteria parameters, and invoke the repeat_elements method to scale input rows dynamically.</a:t>
            </a:r>
          </a:p>
          <a:p>
            <a:pPr/>
            <a:r>
              <a:t>CORE VALIDATION, ASSIGNMENT &amp; REFERENCES: Build a dynamic field map that initializes with 4 empty rows by default and enforces a strict ceiling of 10 rows. Reference: Moodle Developer Docs: Form API Repeaters.</a:t>
            </a:r>
          </a:p>
        </p:txBody>
      </p:sp>
      <p:pic>
        <p:nvPicPr>
          <p:cNvPr id="4" name="slide_9_08_Lesson_22_Form_API__Asynchronous_Repeater_Element_Engineering.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Events API Observer Routing</a:t>
            </a:r>
          </a:p>
        </p:txBody>
      </p:sp>
      <p:sp>
        <p:nvSpPr>
          <p:cNvPr id="3" name="Content Placeholder 2"/>
          <p:cNvSpPr>
            <a:spLocks noGrp="1"/>
          </p:cNvSpPr>
          <p:nvPr>
            <p:ph idx="1"/>
          </p:nvPr>
        </p:nvSpPr>
        <p:spPr/>
        <p:txBody>
          <a:bodyPr/>
          <a:lstStyle/>
          <a:p>
            <a:r>
              <a:t>DEFINITION: An event-driven architecture designed to trigger internal application actions when core state mutations take place.</a:t>
            </a:r>
          </a:p>
          <a:p>
            <a:pPr/>
            <a:r>
              <a:t>OOP INITIALIZATION: Extends the framework base class namespace core event base layout engine infrastructure.</a:t>
            </a:r>
          </a:p>
          <a:p>
            <a:pPr/>
            <a:r>
              <a:t>COMMON USAGE: Storing complex audit logs, external webhook notifications, or real-time metric tracking updates.</a:t>
            </a:r>
          </a:p>
          <a:p>
            <a:pPr/>
            <a:r>
              <a:t>DEMO PROBLEM: Custom plugin analytics fail to track exactly when a user downloads an internal course asset assignment.</a:t>
            </a:r>
          </a:p>
          <a:p>
            <a:pPr/>
            <a:r>
              <a:t>CODE SOLUTION: Register a multi-dimensional array map inside the plugin database events configuration file linking target event names directly to custom handling class method callbacks.</a:t>
            </a:r>
          </a:p>
          <a:p>
            <a:pPr/>
            <a:r>
              <a:t>CORE VALIDATION, ASSIGNMENT &amp; REFERENCES: Register a brand-new custom event observer that captures user logouts and routes payload hashes to an external tracking log table. Reference: Events API Hook Documentation.</a:t>
            </a:r>
          </a:p>
        </p:txBody>
      </p:sp>
      <p:pic>
        <p:nvPicPr>
          <p:cNvPr id="4" name="slide_10_09_Lesson_23_Events_API__Custom_Observers__Transaction_Interception.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MUC Memory Cache Tiering</a:t>
            </a:r>
          </a:p>
        </p:txBody>
      </p:sp>
      <p:sp>
        <p:nvSpPr>
          <p:cNvPr id="3" name="Content Placeholder 2"/>
          <p:cNvSpPr>
            <a:spLocks noGrp="1"/>
          </p:cNvSpPr>
          <p:nvPr>
            <p:ph idx="1"/>
          </p:nvPr>
        </p:nvSpPr>
        <p:spPr/>
        <p:txBody>
          <a:bodyPr/>
          <a:lstStyle/>
          <a:p>
            <a:r>
              <a:t>DEFINITION: High-performance data tiering infrastructure designed to offload direct SQL compute strains.</a:t>
            </a:r>
          </a:p>
          <a:p>
            <a:pPr/>
            <a:r>
              <a:t>OOP INITIALIZATION: Handled via the core cache_factory make_instance layout manager tracking tools.</a:t>
            </a:r>
          </a:p>
          <a:p>
            <a:pPr/>
            <a:r>
              <a:t>COMMON USAGE: Storing heavy aggregated reporting tables or complex analytics arrays in high-speed RAM storage.</a:t>
            </a:r>
          </a:p>
          <a:p>
            <a:pPr/>
            <a:r>
              <a:t>DEMO PROBLEM: Multi-table analytical reporting queries compute live on every single dashboard view, causing heavy latency spikes.</a:t>
            </a:r>
          </a:p>
          <a:p>
            <a:pPr/>
            <a:r>
              <a:t>CODE SOLUTION: Instantiate your target cache definition instance, perform a boolean status check on the key payload, and compute and store data only when a cache cache miss is confirmed.</a:t>
            </a:r>
          </a:p>
          <a:p>
            <a:pPr/>
            <a:r>
              <a:t>CORE VALIDATION, ASSIGNMENT &amp; REFERENCES: Configure a time-to-live parameter of 1800 seconds on your cache map definition layer to force clean automated refresh windows. Reference: Cache API (MUC) Optimization.</a:t>
            </a:r>
          </a:p>
        </p:txBody>
      </p:sp>
      <p:pic>
        <p:nvPicPr>
          <p:cNvPr id="4" name="slide_11_10_Lesson_24_Moodle_Universal_Cache_MUC__Redis_Storage_Operations.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Output API &amp; Render Engine Blueprinting</a:t>
            </a:r>
          </a:p>
        </p:txBody>
      </p:sp>
      <p:sp>
        <p:nvSpPr>
          <p:cNvPr id="3" name="Content Placeholder 2"/>
          <p:cNvSpPr>
            <a:spLocks noGrp="1"/>
          </p:cNvSpPr>
          <p:nvPr>
            <p:ph idx="1"/>
          </p:nvPr>
        </p:nvSpPr>
        <p:spPr/>
        <p:txBody>
          <a:bodyPr/>
          <a:lstStyle/>
          <a:p>
            <a:r>
              <a:t>THE METAPHOR: The Structural Architect. If data is raw concrete, the output renderer is the blueprint shaping it into an estate.</a:t>
            </a:r>
          </a:p>
          <a:p>
            <a:pPr/>
            <a:r>
              <a:t>OOP INITIALIZATION: Instantiated via the global PAGE object output rendering factory manager.</a:t>
            </a:r>
          </a:p>
          <a:p>
            <a:pPr/>
            <a:r>
              <a:t>COMMON USAGE: Abstracting dirty HTML strings out of plugin business logic files into reusable rendering components.</a:t>
            </a:r>
          </a:p>
          <a:p>
            <a:pPr/>
            <a:r>
              <a:t>DEMO PROBLEM: A developer echo-prints raw tables directly inside a script loop, making the layout impossible to customize or override.</a:t>
            </a:r>
          </a:p>
          <a:p>
            <a:pPr/>
            <a:r>
              <a:t>CODE SOLUTION: Define an explicit custom plugin renderer class, move markup blocks into clean engine methods, and return standard renderable objects.</a:t>
            </a:r>
          </a:p>
          <a:p>
            <a:pPr/>
            <a:r>
              <a:t>CORE VALIDATION, ASSIGNMENT &amp; REFERENCES: Refactor an existing raw output block so it leverages a custom mustache template structure. Reference: Output API Documentation inside lib/outputlib.php.</a:t>
            </a:r>
          </a:p>
        </p:txBody>
      </p:sp>
      <p:pic>
        <p:nvPicPr>
          <p:cNvPr id="4" name="slide_12_11_Lesson_31_Output_API__Core_Renderers__Component_Factory_Engines.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Theme API &amp; Custom Render Overrides</a:t>
            </a:r>
          </a:p>
        </p:txBody>
      </p:sp>
      <p:sp>
        <p:nvSpPr>
          <p:cNvPr id="3" name="Content Placeholder 2"/>
          <p:cNvSpPr>
            <a:spLocks noGrp="1"/>
          </p:cNvSpPr>
          <p:nvPr>
            <p:ph idx="1"/>
          </p:nvPr>
        </p:nvSpPr>
        <p:spPr/>
        <p:txBody>
          <a:bodyPr/>
          <a:lstStyle/>
          <a:p>
            <a:r>
              <a:t>THE METAPHOR: The House Facade. The core output component builds the rooms, but the theme swaps the paint, lighting, and textures instantly.</a:t>
            </a:r>
          </a:p>
          <a:p>
            <a:pPr/>
            <a:r>
              <a:t>OOP INITIALIZATION: Governed dynamically by the theme configuration metadata layout layer.</a:t>
            </a:r>
          </a:p>
          <a:p>
            <a:pPr/>
            <a:r>
              <a:t>COMMON USAGE: Intercepting core plugin output components to inject custom branding or tailored responsive behaviors.</a:t>
            </a:r>
          </a:p>
          <a:p>
            <a:pPr/>
            <a:r>
              <a:t>DEMO PROBLEM: A core site update modifies a generic block layout, accidentally breaking a plugin's strict CSS target dependencies.</a:t>
            </a:r>
          </a:p>
          <a:p>
            <a:pPr/>
            <a:r>
              <a:t>CODE SOLUTION: Create a theme override directory, mirror the target plugin namespace structure, and implement a custom renderer override function.</a:t>
            </a:r>
          </a:p>
          <a:p>
            <a:pPr/>
            <a:r>
              <a:t>CORE VALIDATION, ASSIGNMENT &amp; REFERENCES: Register a custom theme style configuration array that hooks into and alters the layout behavior of a standard system navigation bar. Reference: Moodle Themes Developer Guide.</a:t>
            </a:r>
          </a:p>
        </p:txBody>
      </p:sp>
      <p:pic>
        <p:nvPicPr>
          <p:cNvPr id="4" name="slide_13_12_Lesson_32_Theme_API__Renderers_Overrides__CSS_Layout_Facades.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Mustache Engine &amp; HTML Blueprints</a:t>
            </a:r>
          </a:p>
        </p:txBody>
      </p:sp>
      <p:sp>
        <p:nvSpPr>
          <p:cNvPr id="3" name="Content Placeholder 2"/>
          <p:cNvSpPr>
            <a:spLocks noGrp="1"/>
          </p:cNvSpPr>
          <p:nvPr>
            <p:ph idx="1"/>
          </p:nvPr>
        </p:nvSpPr>
        <p:spPr/>
        <p:txBody>
          <a:bodyPr/>
          <a:lstStyle/>
          <a:p>
            <a:r>
              <a:t>THE METAPHOR: The Pre-Fabricated Wall Mold. The renderer supplies the raw materials, but the Mustache file is the rigid mold that guarantees every wall looks identical.</a:t>
            </a:r>
          </a:p>
          <a:p>
            <a:pPr/>
            <a:r>
              <a:t>OOP INITIALIZATION: Rendered via the core output renderer render_from_template method.</a:t>
            </a:r>
          </a:p>
          <a:p>
            <a:pPr/>
            <a:r>
              <a:t>COMMON USAGE: Separating frontend HTML structure entirely from backend PHP data collection.</a:t>
            </a:r>
          </a:p>
          <a:p>
            <a:pPr/>
            <a:r>
              <a:t>DEMO PROBLEM: A designer wants to modernize a custom block, but the markup is trapped inside complex PHP logic loops.</a:t>
            </a:r>
          </a:p>
          <a:p>
            <a:pPr/>
            <a:r>
              <a:t>CODE SOLUTION: Extract HTML structures into a standalone .mustache file and pass data arrays as simple JSON-like context structures.</a:t>
            </a:r>
          </a:p>
          <a:p>
            <a:pPr/>
            <a:r>
              <a:t>CORE VALIDATION, ASSIGNMENT &amp; REFERENCES: Build a reusable Mustache card layout that loops through an array of course metrics safely. Reference: Moodle Templates Developer Docs.</a:t>
            </a:r>
          </a:p>
        </p:txBody>
      </p:sp>
      <p:pic>
        <p:nvPicPr>
          <p:cNvPr id="4" name="slide_14_13_Lesson_33_Output_API__Mustache_Templates__Content_Blueprints.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Renderable Interfaces &amp; Data Passing</a:t>
            </a:r>
          </a:p>
        </p:txBody>
      </p:sp>
      <p:sp>
        <p:nvSpPr>
          <p:cNvPr id="3" name="Content Placeholder 2"/>
          <p:cNvSpPr>
            <a:spLocks noGrp="1"/>
          </p:cNvSpPr>
          <p:nvPr>
            <p:ph idx="1"/>
          </p:nvPr>
        </p:nvSpPr>
        <p:spPr/>
        <p:txBody>
          <a:bodyPr/>
          <a:lstStyle/>
          <a:p>
            <a:r>
              <a:t>THE METAPHOR: The Specialized Shipping Container. You cannot dump loose items onto a ship; you lock them into standard cargo crates that any port crane knows how to handle.</a:t>
            </a:r>
          </a:p>
          <a:p>
            <a:pPr/>
            <a:r>
              <a:t>OOP INITIALIZATION: Implements the core renderable and templatable interface standards.</a:t>
            </a:r>
          </a:p>
          <a:p>
            <a:pPr/>
            <a:r>
              <a:t>COMMON USAGE: Packaging multi-layered database payloads into highly structured, immutable view-model objects.</a:t>
            </a:r>
          </a:p>
          <a:p>
            <a:pPr/>
            <a:r>
              <a:t>DEMO PROBLEM: A custom plugin passes loose, unvalidated multi-dimensional arrays to a renderer, causing unpredictable rendering exceptions.</a:t>
            </a:r>
          </a:p>
          <a:p>
            <a:pPr/>
            <a:r>
              <a:t>CODE SOLUTION: Create an explicit class that implements renderable, map input parameters inside the constructor, and provide an export_for_template data formatting method.</a:t>
            </a:r>
          </a:p>
          <a:p>
            <a:pPr/>
            <a:r>
              <a:t>CORE VALIDATION, ASSIGNMENT &amp; REFERENCES: Enforce strict type-hinting on a custom dashboard widget object to reject malformed dataset structures. Reference: lib/outputlib.php.</a:t>
            </a:r>
          </a:p>
        </p:txBody>
      </p:sp>
      <p:pic>
        <p:nvPicPr>
          <p:cNvPr id="4" name="slide_15_14_Lesson_34_Theme_API__Renderable_Objects__Data_Cargo_Packages.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Pix Engine Asset Delivery</a:t>
            </a:r>
          </a:p>
        </p:txBody>
      </p:sp>
      <p:sp>
        <p:nvSpPr>
          <p:cNvPr id="3" name="Content Placeholder 2"/>
          <p:cNvSpPr>
            <a:spLocks noGrp="1"/>
          </p:cNvSpPr>
          <p:nvPr>
            <p:ph idx="1"/>
          </p:nvPr>
        </p:nvSpPr>
        <p:spPr/>
        <p:txBody>
          <a:bodyPr/>
          <a:lstStyle/>
          <a:p>
            <a:r>
              <a:t>THE METAPHOR: The Interior Wall Decor. The renderer builds the wall structure, but the pix engine dynamically selects and hangs the correct picture frame depending on the sub-theme.</a:t>
            </a:r>
          </a:p>
          <a:p>
            <a:pPr/>
            <a:r>
              <a:t>OOP INITIALIZATION: Resolved via the core output renderer image_url method locator.</a:t>
            </a:r>
          </a:p>
          <a:p>
            <a:pPr/>
            <a:r>
              <a:t>COMMON USAGE: Serving cached, responsive interface icons and branding SVGs dynamically across different theme styles.</a:t>
            </a:r>
          </a:p>
          <a:p>
            <a:pPr/>
            <a:r>
              <a:t>DEMO PROBLEM: A developer hardcodes a direct path to an image file, causing broken image links when a custom theme overrides the skin.</a:t>
            </a:r>
          </a:p>
          <a:p>
            <a:pPr/>
            <a:r>
              <a:t>CODE SOLUTION: Route all image source bindings through the standard core output image_url helper engine.</a:t>
            </a:r>
          </a:p>
          <a:p>
            <a:pPr/>
            <a:r>
              <a:t>CORE VALIDATION, ASSIGNMENT &amp; REFERENCES: Inject an SVG icon asset into a custom block namespace header using clean path maps. Reference: lib/outputlib.php.</a:t>
            </a:r>
          </a:p>
        </p:txBody>
      </p:sp>
      <p:pic>
        <p:nvPicPr>
          <p:cNvPr id="4" name="slide_16_15_Lesson_35_DEPLOY_ACTIVE_Output_API__Pix__Core_Image_Assets.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Device Detection Layout Routing</a:t>
            </a:r>
          </a:p>
        </p:txBody>
      </p:sp>
      <p:sp>
        <p:nvSpPr>
          <p:cNvPr id="3" name="Content Placeholder 2"/>
          <p:cNvSpPr>
            <a:spLocks noGrp="1"/>
          </p:cNvSpPr>
          <p:nvPr>
            <p:ph idx="1"/>
          </p:nvPr>
        </p:nvSpPr>
        <p:spPr/>
        <p:txBody>
          <a:bodyPr/>
          <a:lstStyle/>
          <a:p>
            <a:r>
              <a:t>THE METAPHOR: The Smart Adaptive Entryway. A building that detects who is walking up and morphs its doors instantly to accommodate a wheelchair, a truck, or a pedestrian.</a:t>
            </a:r>
          </a:p>
          <a:p>
            <a:pPr/>
            <a:r>
              <a:t>OOP INITIALIZATION: Evaluated dynamically by the global PAGE object device detection wrappers.</a:t>
            </a:r>
          </a:p>
          <a:p>
            <a:pPr/>
            <a:r>
              <a:t>COMMON USAGE: Serving custom lightweight layouts for mobile applications while reserving heavy interfaces for desktop environments.</a:t>
            </a:r>
          </a:p>
          <a:p>
            <a:pPr/>
            <a:r>
              <a:t>DEMO PROBLEM: A dense multi-column reporting dashboard breaks layout completely when viewed on standard smartphone screen viewports.</a:t>
            </a:r>
          </a:p>
          <a:p>
            <a:pPr/>
            <a:r>
              <a:t>CODE SOLUTION: Establish conditional layout routing blocks inside your theme configuration script based on the device configuration array status.</a:t>
            </a:r>
          </a:p>
          <a:p>
            <a:pPr/>
            <a:r>
              <a:t>CORE VALIDATION, ASSIGNMENT &amp; REFERENCES: Set up an explicit design rule that forces an alternate layout template choice when a mobile browser profile is detected. Reference: Theme Layout Styles Guide.</a:t>
            </a:r>
          </a:p>
        </p:txBody>
      </p:sp>
      <p:pic>
        <p:nvPicPr>
          <p:cNvPr id="4" name="slide_17_16_Lesson_36_DEPLOY_ACTIVE_Theme_API__User_Agent__Device_Layout_Tunnels.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CSS Pipelines</a:t>
            </a:r>
          </a:p>
        </p:txBody>
      </p:sp>
      <p:sp>
        <p:nvSpPr>
          <p:cNvPr id="3" name="Content Placeholder 2"/>
          <p:cNvSpPr>
            <a:spLocks noGrp="1"/>
          </p:cNvSpPr>
          <p:nvPr>
            <p:ph idx="1"/>
          </p:nvPr>
        </p:nvSpPr>
        <p:spPr/>
        <p:txBody>
          <a:bodyPr/>
          <a:lstStyle/>
          <a:p>
            <a:r>
              <a:t>THE METAPHOR: The Temporary Graffiti Wall. Spraying paint directly onto a localized structure without modifying the architectural blueprints of the building.</a:t>
            </a:r>
          </a:p>
          <a:p>
            <a:pPr/>
            <a:r>
              <a:t>STATUS: This is a draft sandbox module. It will be ignored by the compiler.</a:t>
            </a:r>
          </a:p>
          <a:p>
            <a:pPr/>
            <a:r>
              <a:t>CODE SOLUTION: Testing local inline styles manipulation matrices inside non-production extensions.</a:t>
            </a:r>
          </a:p>
        </p:txBody>
      </p:sp>
      <p:pic>
        <p:nvPicPr>
          <p:cNvPr id="4" name="slide_18_17_Lesson_37_DEPLOY_DRAFT_Output_API__Experimental_CSS_Injection_Methods.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Deprecated CSS Parsing Modules</a:t>
            </a:r>
          </a:p>
        </p:txBody>
      </p:sp>
      <p:sp>
        <p:nvSpPr>
          <p:cNvPr id="3" name="Content Placeholder 2"/>
          <p:cNvSpPr>
            <a:spLocks noGrp="1"/>
          </p:cNvSpPr>
          <p:nvPr>
            <p:ph idx="1"/>
          </p:nvPr>
        </p:nvSpPr>
        <p:spPr/>
        <p:txBody>
          <a:bodyPr/>
          <a:lstStyle/>
          <a:p>
            <a:r>
              <a:t>THE METAPHOR: The Outdated Plumbing Stack. A system layer left intact for old connections but bypassed by modern infrastructure.</a:t>
            </a:r>
          </a:p>
          <a:p>
            <a:pPr/>
            <a:r>
              <a:t>STATUS: This is a draft sandbox module. It will be ignored by the compiler.</a:t>
            </a:r>
          </a:p>
          <a:p>
            <a:pPr/>
            <a:r>
              <a:t>CODE SOLUTION: Reviewing legacy CSS processing variables for retrofitting backward-compatible system frameworks.</a:t>
            </a:r>
          </a:p>
        </p:txBody>
      </p:sp>
      <p:pic>
        <p:nvPicPr>
          <p:cNvPr id="4" name="slide_19_18_Lesson_38_DEPLOY_DRAFT_Theme_API__Legacy_Color_Scheme_PostProcessors.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0" y="0"/>
            <a:ext cx="500000" cy="500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